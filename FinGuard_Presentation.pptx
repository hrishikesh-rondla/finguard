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Neil Gogte Institute of Technology, Hyderabad  |  Dept. of Computer Science &amp;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Academic Year 2025–2026   |   Final Year B.E. Project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1280160"/>
            <a:ext cx="2926080" cy="29260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0" y="1463040"/>
            <a:ext cx="2560320" cy="2560320"/>
          </a:xfrm>
          <a:prstGeom prst="rect">
            <a:avLst/>
          </a:prstGeom>
          <a:solidFill>
            <a:srgbClr val="17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0" y="192024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77240"/>
            <a:ext cx="109728" cy="4114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822960"/>
            <a:ext cx="8412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38BDF8"/>
                </a:solidFill>
              </a:rPr>
              <a:t>FinGuard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574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AI-Powered Financial Stress Prediction
&amp; Advisory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46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4D399"/>
                </a:solidFill>
              </a:rPr>
              <a:t>Machine Learning  •  Full-Stack Web App  •  Personalized Recommendations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931920"/>
            <a:ext cx="54864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406908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BD5E1"/>
                </a:solidFill>
              </a:rPr>
              <a:t>Presented by:  [</a:t>
            </a:r>
            <a:r>
              <a:rPr lang="en-US" sz="1300" b="0" i="0" dirty="0">
                <a:solidFill>
                  <a:srgbClr val="CBD5E1"/>
                </a:solidFill>
              </a:rPr>
              <a:t>Roshan Matthew</a:t>
            </a:r>
            <a:r>
              <a:rPr sz="1300" b="0" i="0" dirty="0">
                <a:solidFill>
                  <a:srgbClr val="CBD5E1"/>
                </a:solidFill>
              </a:rPr>
              <a:t>]  •  [</a:t>
            </a:r>
            <a:r>
              <a:rPr lang="en-US" sz="1300" b="0" i="0" dirty="0" err="1">
                <a:solidFill>
                  <a:srgbClr val="CBD5E1"/>
                </a:solidFill>
              </a:rPr>
              <a:t>Hrish</a:t>
            </a:r>
            <a:r>
              <a:rPr sz="1300" b="0" i="0" dirty="0">
                <a:solidFill>
                  <a:srgbClr val="CBD5E1"/>
                </a:solidFill>
              </a:rPr>
              <a:t>]  •  [</a:t>
            </a:r>
            <a:r>
              <a:rPr lang="en-US" sz="1300" dirty="0">
                <a:solidFill>
                  <a:srgbClr val="CBD5E1"/>
                </a:solidFill>
              </a:rPr>
              <a:t>Lohith]</a:t>
            </a:r>
            <a:endParaRPr sz="1300" b="0" i="0" dirty="0">
              <a:solidFill>
                <a:srgbClr val="CBD5E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" y="44622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Guide:  [Guide Name], [Designation]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Why does FinGuard exist?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651760" cy="15087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651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38BDF8"/>
                </a:solidFill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5564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762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Adults face
financial anxiety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188720"/>
            <a:ext cx="2651760" cy="15087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08960" y="1188720"/>
            <a:ext cx="265176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12801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43F5E"/>
                </a:solidFill>
              </a:rPr>
              <a:t>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5564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Reactive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1762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Existing tools show
what happened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188720"/>
            <a:ext cx="2651760" cy="15087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0" y="1188720"/>
            <a:ext cx="265176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0" y="12801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BBF24"/>
                </a:solidFill>
              </a:rPr>
              <a:t>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75564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No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1762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No early warnings
before crisis hits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1188720"/>
            <a:ext cx="2651760" cy="15087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78240" y="1188720"/>
            <a:ext cx="26517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0" y="12801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34D399"/>
                </a:solidFill>
              </a:rPr>
              <a:t>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175564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Manual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1762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Users manually
categorize spending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834640"/>
            <a:ext cx="11612880" cy="34747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2834640"/>
            <a:ext cx="73152" cy="3474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2926080"/>
            <a:ext cx="11155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F43F5E"/>
                </a:solidFill>
              </a:rPr>
              <a:t>The Core Problem</a:t>
            </a:r>
          </a:p>
          <a:p>
            <a:pPr algn="l">
              <a:spcBef>
                <a:spcPts val="600"/>
              </a:spcBef>
            </a:pPr>
            <a:r>
              <a:rPr sz="1450" b="0" i="0">
                <a:solidFill>
                  <a:srgbClr val="CBD5E1"/>
                </a:solidFill>
              </a:rPr>
              <a:t>Personal finance tools (banking apps, spreadsheets) only visualize past data — they never predict future stress.</a:t>
            </a:r>
          </a:p>
          <a:p>
            <a:pPr algn="l">
              <a:spcBef>
                <a:spcPts val="600"/>
              </a:spcBef>
            </a:pPr>
            <a:r>
              <a:rPr sz="1450" b="0" i="0">
                <a:solidFill>
                  <a:srgbClr val="CBD5E1"/>
                </a:solidFill>
              </a:rPr>
              <a:t>Users have no way to know their financial health is deteriorating until it's too late (missed EMIs, overdrafts).</a:t>
            </a:r>
          </a:p>
          <a:p>
            <a:pPr algn="l">
              <a:spcBef>
                <a:spcPts val="600"/>
              </a:spcBef>
            </a:pPr>
            <a:r>
              <a:rPr sz="1450" b="0" i="0">
                <a:solidFill>
                  <a:srgbClr val="CBD5E1"/>
                </a:solidFill>
              </a:rPr>
              <a:t>Bank statements come in CSV, Excel, and PDF — no unified tool parses and categorizes them automatically.</a:t>
            </a:r>
          </a:p>
          <a:p>
            <a:pPr algn="l">
              <a:spcBef>
                <a:spcPts val="600"/>
              </a:spcBef>
            </a:pPr>
            <a:r>
              <a:rPr sz="1450" b="0" i="0">
                <a:solidFill>
                  <a:srgbClr val="CBD5E1"/>
                </a:solidFill>
              </a:rPr>
              <a:t>Generic budgeting advice ignores the user's specific financial profile and spending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Proposed Solution — FinGuard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An end-to-end ML-powered personal finance advisory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743200" cy="25603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432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BDF8"/>
                </a:solidFill>
              </a:rPr>
              <a:t>🔮  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ML predicts financial stress
(Low / Medium / High)
before crisis hits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188720"/>
            <a:ext cx="2743200" cy="25603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274320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12984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D399"/>
                </a:solidFill>
              </a:rPr>
              <a:t>📂  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82880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Auto-parse CSV, Excel &amp; PDF
bank statements with
fuzzy column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743200" cy="25603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7432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2984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BBF24"/>
                </a:solidFill>
              </a:rPr>
              <a:t>🏷  Categorize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2880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NLP auto-categorizes
transactions into
13 spending categories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188720"/>
            <a:ext cx="2743200" cy="25603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188720"/>
            <a:ext cx="274320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1160" y="12984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43F5E"/>
                </a:solidFill>
              </a:rPr>
              <a:t>💡  Advise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82880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Rule-based engine generates
3–5 personalized
financial recommendations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38862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3941063"/>
            <a:ext cx="12188952" cy="2606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069080"/>
            <a:ext cx="11430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38BDF8"/>
                </a:solidFill>
              </a:rPr>
              <a:t>What makes FinGuard different?</a:t>
            </a:r>
          </a:p>
          <a:p>
            <a:pPr algn="l">
              <a:spcBef>
                <a:spcPts val="500"/>
              </a:spcBef>
            </a:pPr>
            <a:r>
              <a:rPr sz="1350" b="0" i="0">
                <a:solidFill>
                  <a:srgbClr val="CBD5E1"/>
                </a:solidFill>
              </a:rPr>
              <a:t>Proactive  →  Predicts stress before it becomes a crisis, not after.</a:t>
            </a:r>
          </a:p>
          <a:p>
            <a:pPr algn="l">
              <a:spcBef>
                <a:spcPts val="500"/>
              </a:spcBef>
            </a:pPr>
            <a:r>
              <a:rPr sz="1350" b="0" i="0">
                <a:solidFill>
                  <a:srgbClr val="CBD5E1"/>
                </a:solidFill>
              </a:rPr>
              <a:t>Personalized  →  Recommendations tailored to YOUR specific spending weaknesses.</a:t>
            </a:r>
          </a:p>
          <a:p>
            <a:pPr algn="l">
              <a:spcBef>
                <a:spcPts val="500"/>
              </a:spcBef>
            </a:pPr>
            <a:r>
              <a:rPr sz="1350" b="0" i="0">
                <a:solidFill>
                  <a:srgbClr val="CBD5E1"/>
                </a:solidFill>
              </a:rPr>
              <a:t>Automated  →  One-click import from any bank statement format — no manual entry required.</a:t>
            </a:r>
          </a:p>
          <a:p>
            <a:pPr algn="l">
              <a:spcBef>
                <a:spcPts val="500"/>
              </a:spcBef>
            </a:pPr>
            <a:r>
              <a:rPr sz="1350" b="0" i="0">
                <a:solidFill>
                  <a:srgbClr val="CBD5E1"/>
                </a:solidFill>
              </a:rPr>
              <a:t>Production-grade  →  Full-stack web app with JWT auth, Docker deployment, and admin controls.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Three-tier microservices design — containerized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2697480" cy="4023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269748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1188720" cy="3108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34416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Port 3000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373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CLIENT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40280"/>
            <a:ext cx="2423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React 18 + Vite
Tailwind CSS
Recharts + Framer Motion
Axios HTTP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867" y="2926080"/>
            <a:ext cx="7281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1234440"/>
            <a:ext cx="2697480" cy="4023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18688" y="1234440"/>
            <a:ext cx="269748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10128" y="1325880"/>
            <a:ext cx="1188720" cy="31089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0128" y="134416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Port 5000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17373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BACKEND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240280"/>
            <a:ext cx="2423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Express.js REST API
Mongoose ODM
JWT + bcrypt + Helmet
/api/auth  /api/transactions
/api/predictions  /api/admin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0955" y="2926080"/>
            <a:ext cx="7281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1234440"/>
            <a:ext cx="2697480" cy="4023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08776" y="1234440"/>
            <a:ext cx="269748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0216" y="1325880"/>
            <a:ext cx="1188720" cy="31089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0216" y="134416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Port 8000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17373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ML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2240280"/>
            <a:ext cx="2423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Python FastAPI
scikit-learn + XGBoost
POST /predict
POST /categorize-batch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1043" y="2926080"/>
            <a:ext cx="7281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98864" y="1234440"/>
            <a:ext cx="2697480" cy="4023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98864" y="1234440"/>
            <a:ext cx="2697480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90304" y="1325880"/>
            <a:ext cx="1188720" cy="31089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90304" y="134416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</a:rPr>
              <a:t>Port 27017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17373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DATABASE TIER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6024" y="2240280"/>
            <a:ext cx="2423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MongoDB 7
Persistent Volume
User  Transaction
Prediction Collections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5394960"/>
            <a:ext cx="11704320" cy="1234440"/>
          </a:xfrm>
          <a:prstGeom prst="rect">
            <a:avLst/>
          </a:prstGeom>
          <a:solidFill>
            <a:srgbClr val="17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28600" y="5394960"/>
            <a:ext cx="64008" cy="1234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5468112"/>
            <a:ext cx="11338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34D399"/>
                </a:solidFill>
              </a:rPr>
              <a:t>Docker Compose  |  Single command deployment: docker-compose up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CBD5E1"/>
                </a:solidFill>
              </a:rPr>
              <a:t>All four services start in dependency order on an isolated bridge network with persistent MongoDB volume.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Dataset &amp; Machine Learning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Kaggle 'Give Me Some Credit'  •  150,000 records  •  3-class stress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5669280" cy="53949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64008" cy="5394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38BDF8"/>
                </a:solidFill>
              </a:rPr>
              <a:t>Training Pipeline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1.  Load Kaggle CSV  →  ~150,000 consumer records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2.  Drop NaN rows  →  ~142,000 clean records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3.  Engineer 3-class stress labels from DebtRatio,
     RevolvingUtilization &amp; SeriousDlqin2yrs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4.  Apply SMOTE oversampling to balance classes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5.  StandardScaler normalization on train + test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6.  Train: Logistic Regression, Random Forest,
     XGBoost  →  select best by weighted F1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7.  Serialize model + scaler + metadata  →  .joblib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8.  FastAPI auto-loads artifacts on startup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80644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80644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34D399"/>
                </a:solidFill>
              </a:rPr>
              <a:t>Model Comparison</a:t>
            </a:r>
          </a:p>
          <a:p>
            <a:pPr algn="l">
              <a:spcBef>
                <a:spcPts val="600"/>
              </a:spcBef>
            </a:pPr>
            <a:r>
              <a:rPr sz="1150" b="0" i="1">
                <a:solidFill>
                  <a:srgbClr val="38BDF8"/>
                </a:solidFill>
              </a:rPr>
              <a:t>Model               Accuracy   F1      ROC-AUC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CBD5E1"/>
                </a:solidFill>
              </a:rPr>
              <a:t>Logistic Regression    79.63%     0.800    0.924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34D399"/>
                </a:solidFill>
              </a:rPr>
              <a:t>✦ Random Forest        93.18%     0.931    0.968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CBD5E1"/>
                </a:solidFill>
              </a:rPr>
              <a:t>XGBoost                93.01%     0.929    0.967</a:t>
            </a:r>
          </a:p>
          <a:p>
            <a:pPr algn="l">
              <a:spcBef>
                <a:spcPts val="700"/>
              </a:spcBef>
            </a:pPr>
            <a:r>
              <a:rPr sz="1150" b="1" i="0">
                <a:solidFill>
                  <a:srgbClr val="FBBF24"/>
                </a:solidFill>
              </a:rPr>
              <a:t>★  Random Forest selected — highest weighted 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840480"/>
            <a:ext cx="5806440" cy="2743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3840480"/>
            <a:ext cx="580644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3931920"/>
            <a:ext cx="5577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FBBF24"/>
                </a:solidFill>
              </a:rPr>
              <a:t>Stress Class Definitions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34D399"/>
                </a:solidFill>
              </a:rPr>
              <a:t>🟢  LOW  </a:t>
            </a:r>
            <a:r>
              <a:rPr sz="1200">
                <a:solidFill>
                  <a:srgbClr val="CBD5E1"/>
                </a:solidFill>
              </a:rPr>
              <a:t>DebtRatio &lt; 0.35  AND  Utilization &lt; 0.85  AND  No delinquency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BBF24"/>
                </a:solidFill>
              </a:rPr>
              <a:t>🟡  MEDIUM  </a:t>
            </a:r>
            <a:r>
              <a:rPr sz="1200">
                <a:solidFill>
                  <a:srgbClr val="CBD5E1"/>
                </a:solidFill>
              </a:rPr>
              <a:t>DebtRatio 0.35–0.50  OR  Utilization 0.85–0.95  OR  Minor late payments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43F5E"/>
                </a:solidFill>
              </a:rPr>
              <a:t>🔴  HIGH  </a:t>
            </a:r>
            <a:r>
              <a:rPr sz="1200">
                <a:solidFill>
                  <a:srgbClr val="CBD5E1"/>
                </a:solidFill>
              </a:rPr>
              <a:t>DebtRatio &gt; 0.50  OR  Utilization &gt; 0.95  OR  Serious delinquency + high debt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Feature Engineering — 12 Financial 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Dynamically computed from user's own transaction history — no credit bureau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5806440" cy="42062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54864" cy="42062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" y="12252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monthly_income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225296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Average monthly income transactions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636776"/>
            <a:ext cx="5806440" cy="420624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1636776"/>
            <a:ext cx="54864" cy="42062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16733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total_expenses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67335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Average monthly expense outflows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084832"/>
            <a:ext cx="5806440" cy="42062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2084832"/>
            <a:ext cx="54864" cy="42062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21214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total_savings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12140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Accumulated savings / emergency fund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532888"/>
            <a:ext cx="5806440" cy="420624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28600" y="2532888"/>
            <a:ext cx="54864" cy="42062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" y="25694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savings_rate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569464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savings ÷ income   [target ≥ 10%]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980944"/>
            <a:ext cx="5806440" cy="42062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8600" y="2980944"/>
            <a:ext cx="54864" cy="42062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328" y="3017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expense_to_income_ratio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0175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expenses ÷ income  [critical &gt; 80%]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429000"/>
            <a:ext cx="5806440" cy="420624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8600" y="3429000"/>
            <a:ext cx="54864" cy="42062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8328" y="3465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discretionary_spending_ratio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3465576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(entertainment+dining+shopping) ÷ expenses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1188720"/>
            <a:ext cx="5806440" cy="42062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53912" y="1188720"/>
            <a:ext cx="54864" cy="42062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12252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essential_spending_ratio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7072" y="1225296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1 − discretionary_spending_ratio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53912" y="1636776"/>
            <a:ext cx="5806440" cy="420624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53912" y="1636776"/>
            <a:ext cx="54864" cy="42062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63640" y="16733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debt_to_income_ratio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7072" y="167335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debt payments ÷ income  [critical &gt; 30%]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3912" y="2084832"/>
            <a:ext cx="5806440" cy="42062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53912" y="2084832"/>
            <a:ext cx="54864" cy="42062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63640" y="21214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num_transactions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7072" y="212140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Count of all transactions in period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53912" y="2532888"/>
            <a:ext cx="5806440" cy="420624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53912" y="2532888"/>
            <a:ext cx="54864" cy="42062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640" y="25694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avg_transaction_value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77072" y="2569464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Total expense ÷ number of expenses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53912" y="2980944"/>
            <a:ext cx="5806440" cy="42062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53912" y="2980944"/>
            <a:ext cx="54864" cy="42062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63640" y="3017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income_volatility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77072" y="30175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std_dev(income) ÷ mean(income),  cap 0.20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53912" y="3429000"/>
            <a:ext cx="5806440" cy="420624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153912" y="3429000"/>
            <a:ext cx="54864" cy="42062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63640" y="34655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months_of_emergency_fund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77072" y="3465576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savings ÷ avg_expenses  [target ≥ 3 months]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4320" y="63550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BBF24"/>
                </a:solidFill>
              </a:rPr>
              <a:t>⚡  Grace period rule: if savings_rate &gt; 10% but emergency fund &lt; 6 months → capped at 6 months to avoid penalising active savers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Key Features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What FinGuard does — and what it's built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2834640" cy="35204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28346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Multi-Format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645920"/>
            <a:ext cx="250545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CBD5E1"/>
                </a:solidFill>
              </a:rPr>
              <a:t>▸  CSV, Excel (.xlsx/.xls) &amp; PDF bank statements</a:t>
            </a:r>
          </a:p>
          <a:p>
            <a:pPr algn="l"/>
            <a:r>
              <a:rPr sz="1350">
                <a:solidFill>
                  <a:srgbClr val="CBD5E1"/>
                </a:solidFill>
              </a:rPr>
              <a:t>▸  Fuzzy column detection (Date, Narration, Amount)</a:t>
            </a:r>
          </a:p>
          <a:p>
            <a:pPr algn="l"/>
            <a:r>
              <a:rPr sz="1350">
                <a:solidFill>
                  <a:srgbClr val="CBD5E1"/>
                </a:solidFill>
              </a:rPr>
              <a:t>▸  Intelligent Credit/Debit split handling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188720"/>
            <a:ext cx="2834640" cy="35204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18688" y="1188720"/>
            <a:ext cx="28346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5848" y="1261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</a:rPr>
              <a:t>ML Stress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645920"/>
            <a:ext cx="250545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CBD5E1"/>
                </a:solidFill>
              </a:rPr>
              <a:t>▸  Random Forest — 93.18% accuracy</a:t>
            </a:r>
          </a:p>
          <a:p>
            <a:pPr algn="l"/>
            <a:r>
              <a:rPr sz="1350">
                <a:solidFill>
                  <a:srgbClr val="CBD5E1"/>
                </a:solidFill>
              </a:rPr>
              <a:t>▸  3-class output: Low / Medium / High</a:t>
            </a:r>
          </a:p>
          <a:p>
            <a:pPr algn="l"/>
            <a:r>
              <a:rPr sz="1350">
                <a:solidFill>
                  <a:srgbClr val="CBD5E1"/>
                </a:solidFill>
              </a:rPr>
              <a:t>▸  Class probabilities + model metadata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188720"/>
            <a:ext cx="2834640" cy="35204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08776" y="1188720"/>
            <a:ext cx="28346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5936" y="1261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Recommendation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645920"/>
            <a:ext cx="250545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CBD5E1"/>
                </a:solidFill>
              </a:rPr>
              <a:t>▸  Rule-based — 9 financial threshold checks</a:t>
            </a:r>
          </a:p>
          <a:p>
            <a:pPr algn="l"/>
            <a:r>
              <a:rPr sz="1350">
                <a:solidFill>
                  <a:srgbClr val="CBD5E1"/>
                </a:solidFill>
              </a:rPr>
              <a:t>▸  3–5 personalized tips per prediction</a:t>
            </a:r>
          </a:p>
          <a:p>
            <a:pPr algn="l"/>
            <a:r>
              <a:rPr sz="1350">
                <a:solidFill>
                  <a:srgbClr val="CBD5E1"/>
                </a:solidFill>
              </a:rPr>
              <a:t>▸  Heuristic fallback when ML service is 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864" y="1188720"/>
            <a:ext cx="2834640" cy="35204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98864" y="1188720"/>
            <a:ext cx="28346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261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3F5E"/>
                </a:solidFill>
              </a:rPr>
              <a:t>Security &amp;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645920"/>
            <a:ext cx="250545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CBD5E1"/>
                </a:solidFill>
              </a:rPr>
              <a:t>▸  JWT auth + bcrypt (10 salt rounds)</a:t>
            </a:r>
          </a:p>
          <a:p>
            <a:pPr algn="l"/>
            <a:r>
              <a:rPr sz="1350">
                <a:solidFill>
                  <a:srgbClr val="CBD5E1"/>
                </a:solidFill>
              </a:rPr>
              <a:t>▸  Helmet HTTP headers + CORS + input validation</a:t>
            </a:r>
          </a:p>
          <a:p>
            <a:pPr algn="l"/>
            <a:r>
              <a:rPr sz="1350">
                <a:solidFill>
                  <a:srgbClr val="CBD5E1"/>
                </a:solidFill>
              </a:rPr>
              <a:t>▸  Superadmin: suspend / cascade-delete users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864608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4919472"/>
            <a:ext cx="12188952" cy="193852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983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Technology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394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38BDF8"/>
                </a:solidFill>
              </a:rPr>
              <a:t>Frontend:  </a:t>
            </a:r>
            <a:r>
              <a:rPr sz="1250">
                <a:solidFill>
                  <a:srgbClr val="CBD5E1"/>
                </a:solidFill>
              </a:rPr>
              <a:t>React 18  •  Vite  •  Tailwind CSS  •  Recharts  •  Framer Motion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696712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34D399"/>
                </a:solidFill>
              </a:rPr>
              <a:t>Backend:  </a:t>
            </a:r>
            <a:r>
              <a:rPr sz="1250">
                <a:solidFill>
                  <a:srgbClr val="CBD5E1"/>
                </a:solidFill>
              </a:rPr>
              <a:t>Express.js  •  Node.js 20  •  MongoDB 7  •  Mongoose  •  JWT  •  Helmet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998464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BBF24"/>
                </a:solidFill>
              </a:rPr>
              <a:t>ML Service:  </a:t>
            </a:r>
            <a:r>
              <a:rPr sz="1250">
                <a:solidFill>
                  <a:srgbClr val="CBD5E1"/>
                </a:solidFill>
              </a:rPr>
              <a:t>Python 3.11  •  FastAPI  •  scikit-learn  •  XGBoost  •  imbalanced-learn  •  joblib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300216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CBD5E1"/>
                </a:solidFill>
              </a:rPr>
              <a:t>DevOps:  </a:t>
            </a:r>
            <a:r>
              <a:rPr sz="1250">
                <a:solidFill>
                  <a:srgbClr val="CBD5E1"/>
                </a:solidFill>
              </a:rPr>
              <a:t>Docker  •  Docker Compose  •  Git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End-to-End Data Flow &amp; API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From bank statement upload to personalized stress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6858000" cy="53949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64008" cy="5394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583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38BDF8"/>
                </a:solidFill>
              </a:rPr>
              <a:t>Prediction Flow — Step by Step</a:t>
            </a:r>
          </a:p>
          <a:p>
            <a:pPr>
              <a:spcBef>
                <a:spcPts val="400"/>
              </a:spcBef>
            </a:pPr>
            <a:r>
              <a:rPr sz="1250" b="1">
                <a:solidFill>
                  <a:srgbClr val="38BDF8"/>
                </a:solidFill>
              </a:rPr>
              <a:t>   1.  </a:t>
            </a:r>
            <a:r>
              <a:rPr sz="1250">
                <a:solidFill>
                  <a:srgbClr val="CBD5E1"/>
                </a:solidFill>
              </a:rPr>
              <a:t>User authenticates → JWT stored in localStorage</a:t>
            </a:r>
          </a:p>
          <a:p>
            <a:pPr>
              <a:spcBef>
                <a:spcPts val="400"/>
              </a:spcBef>
            </a:pPr>
            <a:r>
              <a:rPr sz="1250" b="1">
                <a:solidFill>
                  <a:srgbClr val="38BDF8"/>
                </a:solidFill>
              </a:rPr>
              <a:t>   2.  </a:t>
            </a:r>
            <a:r>
              <a:rPr sz="1250">
                <a:solidFill>
                  <a:srgbClr val="CBD5E1"/>
                </a:solidFill>
              </a:rPr>
              <a:t>Upload bank statement (CSV/Excel/PDF) via drag-and-drop</a:t>
            </a:r>
          </a:p>
          <a:p>
            <a:pPr>
              <a:spcBef>
                <a:spcPts val="400"/>
              </a:spcBef>
            </a:pPr>
            <a:r>
              <a:rPr sz="1250" b="1">
                <a:solidFill>
                  <a:srgbClr val="38BDF8"/>
                </a:solidFill>
              </a:rPr>
              <a:t>   3.  </a:t>
            </a:r>
            <a:r>
              <a:rPr sz="1250">
                <a:solidFill>
                  <a:srgbClr val="CBD5E1"/>
                </a:solidFill>
              </a:rPr>
              <a:t>Backend parses file → extracts Date, Description, Amount</a:t>
            </a:r>
          </a:p>
          <a:p>
            <a:pPr>
              <a:spcBef>
                <a:spcPts val="400"/>
              </a:spcBef>
            </a:pPr>
            <a:r>
              <a:rPr sz="1250" b="1">
                <a:solidFill>
                  <a:srgbClr val="38BDF8"/>
                </a:solidFill>
              </a:rPr>
              <a:t>   4.  </a:t>
            </a:r>
            <a:r>
              <a:rPr sz="1250">
                <a:solidFill>
                  <a:srgbClr val="CBD5E1"/>
                </a:solidFill>
              </a:rPr>
              <a:t>Descriptions sent to ML /categorize-batch → 13 categories</a:t>
            </a:r>
          </a:p>
          <a:p>
            <a:pPr>
              <a:spcBef>
                <a:spcPts val="400"/>
              </a:spcBef>
            </a:pPr>
            <a:r>
              <a:rPr sz="1250" b="1">
                <a:solidFill>
                  <a:srgbClr val="38BDF8"/>
                </a:solidFill>
              </a:rPr>
              <a:t>   5.  </a:t>
            </a:r>
            <a:r>
              <a:rPr sz="1250">
                <a:solidFill>
                  <a:srgbClr val="CBD5E1"/>
                </a:solidFill>
              </a:rPr>
              <a:t>Transactions saved to MongoDB with predicted categories</a:t>
            </a:r>
          </a:p>
          <a:p>
            <a:pPr>
              <a:spcBef>
                <a:spcPts val="400"/>
              </a:spcBef>
            </a:pPr>
            <a:r>
              <a:rPr sz="1250" b="1">
                <a:solidFill>
                  <a:srgbClr val="38BDF8"/>
                </a:solidFill>
              </a:rPr>
              <a:t>   6.  </a:t>
            </a:r>
            <a:r>
              <a:rPr sz="1250">
                <a:solidFill>
                  <a:srgbClr val="CBD5E1"/>
                </a:solidFill>
              </a:rPr>
              <a:t>User clicks Run Prediction → POST /api/predictions/run</a:t>
            </a:r>
          </a:p>
          <a:p>
            <a:pPr>
              <a:spcBef>
                <a:spcPts val="400"/>
              </a:spcBef>
            </a:pPr>
            <a:r>
              <a:rPr sz="1250" b="1">
                <a:solidFill>
                  <a:srgbClr val="38BDF8"/>
                </a:solidFill>
              </a:rPr>
              <a:t>   7.  </a:t>
            </a:r>
            <a:r>
              <a:rPr sz="1250">
                <a:solidFill>
                  <a:srgbClr val="CBD5E1"/>
                </a:solidFill>
              </a:rPr>
              <a:t>Backend aggregates ALL transactions → computes 12 features</a:t>
            </a:r>
          </a:p>
          <a:p>
            <a:pPr>
              <a:spcBef>
                <a:spcPts val="400"/>
              </a:spcBef>
            </a:pPr>
            <a:r>
              <a:rPr sz="1250" b="1">
                <a:solidFill>
                  <a:srgbClr val="38BDF8"/>
                </a:solidFill>
              </a:rPr>
              <a:t>   8.  </a:t>
            </a:r>
            <a:r>
              <a:rPr sz="1250">
                <a:solidFill>
                  <a:srgbClr val="CBD5E1"/>
                </a:solidFill>
              </a:rPr>
              <a:t>Features posted to FastAPI /predict → StandardScaler</a:t>
            </a:r>
          </a:p>
          <a:p>
            <a:pPr>
              <a:spcBef>
                <a:spcPts val="400"/>
              </a:spcBef>
            </a:pPr>
            <a:r>
              <a:rPr sz="1250" b="1">
                <a:solidFill>
                  <a:srgbClr val="38BDF8"/>
                </a:solidFill>
              </a:rPr>
              <a:t>   9.  </a:t>
            </a:r>
            <a:r>
              <a:rPr sz="1250">
                <a:solidFill>
                  <a:srgbClr val="CBD5E1"/>
                </a:solidFill>
              </a:rPr>
              <a:t>Random Forest: predict() + predict_proba() → Low/Med/High</a:t>
            </a:r>
          </a:p>
          <a:p>
            <a:pPr>
              <a:spcBef>
                <a:spcPts val="400"/>
              </a:spcBef>
            </a:pPr>
            <a:r>
              <a:rPr sz="1250" b="1">
                <a:solidFill>
                  <a:srgbClr val="38BDF8"/>
                </a:solidFill>
              </a:rPr>
              <a:t>  10.  </a:t>
            </a:r>
            <a:r>
              <a:rPr sz="1250">
                <a:solidFill>
                  <a:srgbClr val="CBD5E1"/>
                </a:solidFill>
              </a:rPr>
              <a:t>recommend.py checks 9 thresholds → 3–5 personalized tips</a:t>
            </a:r>
          </a:p>
          <a:p>
            <a:pPr>
              <a:spcBef>
                <a:spcPts val="400"/>
              </a:spcBef>
            </a:pPr>
            <a:r>
              <a:rPr sz="1250" b="1">
                <a:solidFill>
                  <a:srgbClr val="38BDF8"/>
                </a:solidFill>
              </a:rPr>
              <a:t>  11.  </a:t>
            </a:r>
            <a:r>
              <a:rPr sz="1250">
                <a:solidFill>
                  <a:srgbClr val="CBD5E1"/>
                </a:solidFill>
              </a:rPr>
              <a:t>Prediction saved to MongoDB → returned to React dashboard</a:t>
            </a:r>
          </a:p>
          <a:p>
            <a:pPr>
              <a:spcBef>
                <a:spcPts val="400"/>
              </a:spcBef>
            </a:pPr>
            <a:r>
              <a:rPr sz="1250" b="1">
                <a:solidFill>
                  <a:srgbClr val="38BDF8"/>
                </a:solidFill>
              </a:rPr>
              <a:t>  12.  </a:t>
            </a:r>
            <a:r>
              <a:rPr sz="1250">
                <a:solidFill>
                  <a:srgbClr val="CBD5E1"/>
                </a:solidFill>
              </a:rPr>
              <a:t>Dashboard: stress gauge + probability bars + recommendation cards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188720"/>
            <a:ext cx="4617720" cy="53949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1188720"/>
            <a:ext cx="461772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52360" y="1280160"/>
            <a:ext cx="4389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34D399"/>
                </a:solidFill>
              </a:rPr>
              <a:t>REST API  —  17 Endpoints</a:t>
            </a:r>
          </a:p>
          <a:p>
            <a:pPr algn="l">
              <a:spcBef>
                <a:spcPts val="500"/>
              </a:spcBef>
            </a:pPr>
            <a:r>
              <a:rPr sz="1100" b="0" i="1">
                <a:solidFill>
                  <a:srgbClr val="38BDF8"/>
                </a:solidFill>
              </a:rPr>
              <a:t>Group               Endpoint</a:t>
            </a:r>
          </a:p>
          <a:p>
            <a:pPr algn="l">
              <a:spcBef>
                <a:spcPts val="700"/>
              </a:spcBef>
            </a:pPr>
            <a:r>
              <a:rPr sz="1300" b="1" i="0">
                <a:solidFill>
                  <a:srgbClr val="34D399"/>
                </a:solidFill>
              </a:rPr>
              <a:t>Auth (4)</a:t>
            </a:r>
          </a:p>
          <a:p>
            <a:pPr algn="l">
              <a:spcBef>
                <a:spcPts val="100"/>
              </a:spcBef>
            </a:pPr>
            <a:r>
              <a:rPr sz="1150" b="0" i="0">
                <a:solidFill>
                  <a:srgbClr val="CBD5E1"/>
                </a:solidFill>
              </a:rPr>
              <a:t>POST /register  /login
GET  /me    POST /logout</a:t>
            </a:r>
          </a:p>
          <a:p>
            <a:pPr algn="l">
              <a:spcBef>
                <a:spcPts val="700"/>
              </a:spcBef>
            </a:pPr>
            <a:r>
              <a:rPr sz="1300" b="1" i="0">
                <a:solidFill>
                  <a:srgbClr val="34D399"/>
                </a:solidFill>
              </a:rPr>
              <a:t>Transactions (6)</a:t>
            </a:r>
          </a:p>
          <a:p>
            <a:pPr algn="l">
              <a:spcBef>
                <a:spcPts val="100"/>
              </a:spcBef>
            </a:pPr>
            <a:r>
              <a:rPr sz="1150" b="0" i="0">
                <a:solidFill>
                  <a:srgbClr val="CBD5E1"/>
                </a:solidFill>
              </a:rPr>
              <a:t>GET/POST/PUT/DELETE /transactions
GET /summary   POST /upload</a:t>
            </a:r>
          </a:p>
          <a:p>
            <a:pPr algn="l">
              <a:spcBef>
                <a:spcPts val="700"/>
              </a:spcBef>
            </a:pPr>
            <a:r>
              <a:rPr sz="1300" b="1" i="0">
                <a:solidFill>
                  <a:srgbClr val="34D399"/>
                </a:solidFill>
              </a:rPr>
              <a:t>Predictions (3)</a:t>
            </a:r>
          </a:p>
          <a:p>
            <a:pPr algn="l">
              <a:spcBef>
                <a:spcPts val="100"/>
              </a:spcBef>
            </a:pPr>
            <a:r>
              <a:rPr sz="1150" b="0" i="0">
                <a:solidFill>
                  <a:srgbClr val="CBD5E1"/>
                </a:solidFill>
              </a:rPr>
              <a:t>POST /run
GET  /history    /latest</a:t>
            </a:r>
          </a:p>
          <a:p>
            <a:pPr algn="l">
              <a:spcBef>
                <a:spcPts val="700"/>
              </a:spcBef>
            </a:pPr>
            <a:r>
              <a:rPr sz="1300" b="1" i="0">
                <a:solidFill>
                  <a:srgbClr val="34D399"/>
                </a:solidFill>
              </a:rPr>
              <a:t>Admin (3)</a:t>
            </a:r>
          </a:p>
          <a:p>
            <a:pPr algn="l">
              <a:spcBef>
                <a:spcPts val="100"/>
              </a:spcBef>
            </a:pPr>
            <a:r>
              <a:rPr sz="1150" b="0" i="0">
                <a:solidFill>
                  <a:srgbClr val="CBD5E1"/>
                </a:solidFill>
              </a:rPr>
              <a:t>GET /users   PUT /:id/suspend
DELETE /:id  (Superadmin only)</a:t>
            </a:r>
          </a:p>
          <a:p>
            <a:pPr algn="l">
              <a:spcBef>
                <a:spcPts val="700"/>
              </a:spcBef>
            </a:pPr>
            <a:r>
              <a:rPr sz="1300" b="1" i="0">
                <a:solidFill>
                  <a:srgbClr val="34D399"/>
                </a:solidFill>
              </a:rPr>
              <a:t>ML Service (1)</a:t>
            </a:r>
          </a:p>
          <a:p>
            <a:pPr algn="l">
              <a:spcBef>
                <a:spcPts val="100"/>
              </a:spcBef>
            </a:pPr>
            <a:r>
              <a:rPr sz="1150" b="0" i="0">
                <a:solidFill>
                  <a:srgbClr val="CBD5E1"/>
                </a:solidFill>
              </a:rPr>
              <a:t>POST /predict   POST /categorize-batch
GET  /health    /model-info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Results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Random Forest — 93.18% accuracy on 3-class financial stress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3200400" cy="53949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32004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7373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34D399"/>
                </a:solidFill>
              </a:rPr>
              <a:t>93.18%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971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</a:rPr>
              <a:t>Overall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290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35661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CBD5E1"/>
                </a:solidFill>
              </a:rPr>
              <a:t>Weighted F1
</a:t>
            </a:r>
            <a:r>
              <a:rPr sz="1800" b="1">
                <a:solidFill>
                  <a:srgbClr val="34D399"/>
                </a:solidFill>
              </a:rPr>
              <a:t>0.9311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CBD5E1"/>
                </a:solidFill>
              </a:rPr>
              <a:t>Macro Precision
</a:t>
            </a:r>
            <a:r>
              <a:rPr sz="1800" b="1">
                <a:solidFill>
                  <a:srgbClr val="38BDF8"/>
                </a:solidFill>
              </a:rPr>
              <a:t>0.9318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CBD5E1"/>
                </a:solidFill>
              </a:rPr>
              <a:t>Macro Recall
</a:t>
            </a:r>
            <a:r>
              <a:rPr sz="1800" b="1">
                <a:solidFill>
                  <a:srgbClr val="38BDF8"/>
                </a:solidFill>
              </a:rPr>
              <a:t>0.9311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CBD5E1"/>
                </a:solidFill>
              </a:rPr>
              <a:t>ROC-AUC
</a:t>
            </a:r>
            <a:r>
              <a:rPr sz="1800" b="1">
                <a:solidFill>
                  <a:srgbClr val="FBBF24"/>
                </a:solidFill>
              </a:rPr>
              <a:t>0.9676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1188720"/>
            <a:ext cx="5029200" cy="53949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11880" y="1188720"/>
            <a:ext cx="502920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39" y="1280160"/>
            <a:ext cx="4846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FBBF24"/>
                </a:solidFill>
              </a:rPr>
              <a:t>Per-Class Performance</a:t>
            </a:r>
          </a:p>
          <a:p>
            <a:pPr algn="l">
              <a:spcBef>
                <a:spcPts val="800"/>
              </a:spcBef>
            </a:pPr>
            <a:r>
              <a:rPr sz="1200" b="0" i="1">
                <a:solidFill>
                  <a:srgbClr val="38BDF8"/>
                </a:solidFill>
              </a:rPr>
              <a:t>Class          Precision   Recall   F1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CBD5E1"/>
                </a:solidFill>
              </a:rPr>
              <a:t>🟢  Low (0)         0.9512       0.9423    0.9467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CBD5E1"/>
                </a:solidFill>
              </a:rPr>
              <a:t>🟡  Medium (1)      0.9187       0.9244    0.9215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CBD5E1"/>
                </a:solidFill>
              </a:rPr>
              <a:t>🔴  High (2)        0.9254       0.9267    0.9261</a:t>
            </a:r>
          </a:p>
          <a:p>
            <a:pPr algn="l">
              <a:spcBef>
                <a:spcPts val="700"/>
              </a:spcBef>
            </a:pPr>
            <a:r>
              <a:rPr sz="1300" b="0" i="0">
                <a:solidFill>
                  <a:srgbClr val="38BDF8"/>
                </a:solidFill>
              </a:rPr>
              <a:t>── Weighted        0.9318       0.9311    0.9314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188720"/>
            <a:ext cx="3108960" cy="53949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23960" y="1188720"/>
            <a:ext cx="3108960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1280160"/>
            <a:ext cx="2926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F43F5E"/>
                </a:solidFill>
              </a:rPr>
              <a:t>vs Benchmarks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CBD5E1"/>
                </a:solidFill>
              </a:rPr>
              <a:t>Naïve Bayes         </a:t>
            </a:r>
            <a:r>
              <a:rPr sz="1200" b="1">
                <a:solidFill>
                  <a:srgbClr val="CBD5E1"/>
                </a:solidFill>
              </a:rPr>
              <a:t>  71.42%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CBD5E1"/>
                </a:solidFill>
              </a:rPr>
              <a:t>K-NN (k=5)          </a:t>
            </a:r>
            <a:r>
              <a:rPr sz="1200" b="1">
                <a:solidFill>
                  <a:srgbClr val="CBD5E1"/>
                </a:solidFill>
              </a:rPr>
              <a:t>  82.15%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CBD5E1"/>
                </a:solidFill>
              </a:rPr>
              <a:t>Log. Regression     </a:t>
            </a:r>
            <a:r>
              <a:rPr sz="1200" b="1">
                <a:solidFill>
                  <a:srgbClr val="CBD5E1"/>
                </a:solidFill>
              </a:rPr>
              <a:t>  79.63%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CBD5E1"/>
                </a:solidFill>
              </a:rPr>
              <a:t>Decision Tree       </a:t>
            </a:r>
            <a:r>
              <a:rPr sz="1200" b="1">
                <a:solidFill>
                  <a:srgbClr val="CBD5E1"/>
                </a:solidFill>
              </a:rPr>
              <a:t>  84.67%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CBD5E1"/>
                </a:solidFill>
              </a:rPr>
              <a:t>SVM (RBF)           </a:t>
            </a:r>
            <a:r>
              <a:rPr sz="1200" b="1">
                <a:solidFill>
                  <a:srgbClr val="CBD5E1"/>
                </a:solidFill>
              </a:rPr>
              <a:t>  87.31%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CBD5E1"/>
                </a:solidFill>
              </a:rPr>
              <a:t>AdaBoost            </a:t>
            </a:r>
            <a:r>
              <a:rPr sz="1200" b="1">
                <a:solidFill>
                  <a:srgbClr val="CBD5E1"/>
                </a:solidFill>
              </a:rPr>
              <a:t>  88.94%</a:t>
            </a:r>
          </a:p>
          <a:p>
            <a:pPr>
              <a:spcBef>
                <a:spcPts val="700"/>
              </a:spcBef>
            </a:pPr>
            <a:r>
              <a:rPr sz="1200" b="1">
                <a:solidFill>
                  <a:srgbClr val="34D399"/>
                </a:solidFill>
              </a:rPr>
              <a:t>✦ Random Forest       93.18%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Application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Key screens — from login to stress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29260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29260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8328" y="1307592"/>
            <a:ext cx="2706624" cy="1463040"/>
          </a:xfrm>
          <a:prstGeom prst="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1737360"/>
            <a:ext cx="2706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5A77"/>
                </a:solidFill>
              </a:rPr>
              <a:t>[Screenshot]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807208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8BDF8"/>
                </a:solidFill>
              </a:rPr>
              <a:t>1  Login /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218688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BD5E1"/>
                </a:solidFill>
              </a:rPr>
              <a:t>JWT-secured auth with form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1234440"/>
            <a:ext cx="29260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10128" y="1234440"/>
            <a:ext cx="292608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19856" y="1307592"/>
            <a:ext cx="2706624" cy="1463040"/>
          </a:xfrm>
          <a:prstGeom prst="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9856" y="1737360"/>
            <a:ext cx="2706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5A77"/>
                </a:solidFill>
              </a:rPr>
              <a:t>[Screenshot]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2807208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4D399"/>
                </a:solidFill>
              </a:rPr>
              <a:t>2 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3218688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Stress gauge · KPI cards · Charts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91656" y="1234440"/>
            <a:ext cx="29260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91656" y="1234440"/>
            <a:ext cx="292608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01384" y="1307592"/>
            <a:ext cx="2706624" cy="1463040"/>
          </a:xfrm>
          <a:prstGeom prst="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01384" y="1737360"/>
            <a:ext cx="2706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5A77"/>
                </a:solidFill>
              </a:rPr>
              <a:t>[Screenshot]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2807208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BBF24"/>
                </a:solidFill>
              </a:rPr>
              <a:t>3  Upload Bank 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3218688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Drag-drop · Parse preview · Auto-categorize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73184" y="1234440"/>
            <a:ext cx="29260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473184" y="1234440"/>
            <a:ext cx="292608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82912" y="1307592"/>
            <a:ext cx="2706624" cy="1463040"/>
          </a:xfrm>
          <a:prstGeom prst="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82912" y="1737360"/>
            <a:ext cx="2706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5A77"/>
                </a:solidFill>
              </a:rPr>
              <a:t>[Screenshot]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2807208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43F5E"/>
                </a:solidFill>
              </a:rPr>
              <a:t>4  Transactions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3218688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Paginated list · Category badges · Add/Edit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840480"/>
            <a:ext cx="29260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28600" y="3840480"/>
            <a:ext cx="29260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8328" y="3913632"/>
            <a:ext cx="2706624" cy="1463040"/>
          </a:xfrm>
          <a:prstGeom prst="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8328" y="4343400"/>
            <a:ext cx="2706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5A77"/>
                </a:solidFill>
              </a:rPr>
              <a:t>[Screenshot]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" y="5413248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8BDF8"/>
                </a:solidFill>
              </a:rPr>
              <a:t>5  Run Prediction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" y="5824728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One-click · Gauge · Probabilities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0128" y="3840480"/>
            <a:ext cx="29260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310128" y="3840480"/>
            <a:ext cx="292608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419856" y="3913632"/>
            <a:ext cx="2706624" cy="1463040"/>
          </a:xfrm>
          <a:prstGeom prst="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19856" y="4343400"/>
            <a:ext cx="2706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5A77"/>
                </a:solidFill>
              </a:rPr>
              <a:t>[Screenshot]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19856" y="5413248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4D399"/>
                </a:solidFill>
              </a:rPr>
              <a:t>6  Recommendations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19856" y="5824728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3–5 personalized financial tips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91656" y="3840480"/>
            <a:ext cx="29260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91656" y="3840480"/>
            <a:ext cx="292608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01384" y="3913632"/>
            <a:ext cx="2706624" cy="1463040"/>
          </a:xfrm>
          <a:prstGeom prst="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01384" y="4343400"/>
            <a:ext cx="2706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5A77"/>
                </a:solidFill>
              </a:rPr>
              <a:t>[Screenshot]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01384" y="5413248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BBF24"/>
                </a:solidFill>
              </a:rPr>
              <a:t>7  Prediction History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1384" y="5824728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Area chart · Stress trend over time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73184" y="3840480"/>
            <a:ext cx="29260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473184" y="3840480"/>
            <a:ext cx="292608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582912" y="3913632"/>
            <a:ext cx="2706624" cy="1463040"/>
          </a:xfrm>
          <a:prstGeom prst="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582912" y="4343400"/>
            <a:ext cx="2706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5A77"/>
                </a:solidFill>
              </a:rPr>
              <a:t>[Screenshot]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82912" y="5413248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43F5E"/>
                </a:solidFill>
              </a:rPr>
              <a:t>8  Admin Panel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82912" y="5824728"/>
            <a:ext cx="2706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User list · Suspend / Delete controls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What we built — and where it goes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5669280" cy="53949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64008" cy="5394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34D399"/>
                </a:solidFill>
              </a:rPr>
              <a:t>What We Achieved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✅  93.18% accuracy — Random Forest outperforms all 6 benchmark models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✅  First fully integrated system combining ML + bank statement ingestion + recommendations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✅  12 financial features engineered from personal transactions — no credit bureau needed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✅  Multi-format parser: CSV, Excel, PDF with fuzzy header detection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✅  NLP auto-categorizes transactions into 13 spending categories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✅  Personalized 3–5 recommendations per prediction via rule engine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✅  Production-ready: JWT auth, bcrypt, Helmet, Docker Compose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✅  Superadmin module with cascade user management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✅  Heuristic fallback — system never goes blind when ML service is 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806440" cy="53949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64008" cy="5394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5577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FBBF24"/>
                </a:solidFill>
              </a:rPr>
              <a:t>Future Enhancements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🏦  Real bank API integration (Plaid / Account Aggregator RBI)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📈  Longitudinal stress forecasting — Prophet / LSTM time-series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📱  React Native mobile app with push notification alerts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💹  Investment recommendation engine (SIP, FD, mutual funds)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👨‍👩‍👧  Multi-user household finance management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🔍  SHAP-based Explainable AI (XAI) prediction dashboard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🔐  2FA / WebAuthn passkey / OAuth2 Google login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🔔  Automated budget alerts and per-category spending caps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CBD5E1"/>
                </a:solidFill>
              </a:rPr>
              <a:t>🌐  Multi-language &amp; multi-currency support (Hindi, Telugu, INR/USD)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1677</Words>
  <Application>Microsoft Office PowerPoint</Application>
  <PresentationFormat>Custom</PresentationFormat>
  <Paragraphs>242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Roshan Matthew</cp:lastModifiedBy>
  <cp:revision>2</cp:revision>
  <dcterms:created xsi:type="dcterms:W3CDTF">2013-01-27T09:14:16Z</dcterms:created>
  <dcterms:modified xsi:type="dcterms:W3CDTF">2026-06-11T11:23:39Z</dcterms:modified>
  <cp:category/>
</cp:coreProperties>
</file>